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BT</a:t>
            </a:r>
            <a:pPr algn="ctr" indent="0" marL="0">
              <a:buNone/>
            </a:pPr>
            <a:r>
              <a:rPr lang="en-US" sz="3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Brick</a:t>
            </a:r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Democratizando la inversión inmobiliaria en Uruguay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vendemos rendimiento. Vendemos </a:t>
            </a:r>
            <a:pPr algn="ctr" indent="0" marL="0">
              <a:buNone/>
            </a:pPr>
            <a:r>
              <a:rPr lang="en-US" sz="24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ACCESO</a:t>
            </a:r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 2026  |  Montevideo, Uruguay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8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143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inaccesible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5087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necesitan USD 120K-400K mínimo para invertir en un inmueble en Uruguay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8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103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Gestión compleja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468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Inquilinos, mantenimiento, impuestos, vacancia. Administrar una propiedad es un trabajo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8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063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opciones para ahorristas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429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tiene USD 1,000-10,000 ahorrados no tiene forma de acceder al mercado inmobiliario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8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023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Inversión ilíquida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389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Vender un inmueble lleva meses. El capital queda atrapado sin posibilidad de salida rápida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Brick</a:t>
            </a:r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pPr indent="0" marL="0">
              <a:buNone/>
            </a:pPr>
            <a:r>
              <a:rPr lang="en-US" sz="3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La solución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Tokenizamos propiedades reales en Uruguay. Cada propiedad se estructura bajo un fideicomiso legal y se divide en tokens digitales.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93392"/>
            <a:ext cx="54864" cy="3657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Fideicomiso legal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0" y="19385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propiedad = 1 fideicomiso constituido (Ley 17.703)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54864" cy="3657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Desde USD 100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2578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mínima accesible para cualquier persona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273552"/>
            <a:ext cx="54864" cy="3657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Rendimientos trimestrales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32186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automática de ingresos por alquiler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54864" cy="3657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Transparencia total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3858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legales, tasaciones y rendiciones públicas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553712"/>
            <a:ext cx="54864" cy="3657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Revalorización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44988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Participación en la apreciación del inmueble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funciona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554480" cy="2926080"/>
          </a:xfrm>
          <a:prstGeom prst="rect">
            <a:avLst/>
          </a:prstGeom>
          <a:solidFill>
            <a:srgbClr val="1E325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8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Crear cuenta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con KYC básico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1371600"/>
            <a:ext cx="1554480" cy="2926080"/>
          </a:xfrm>
          <a:prstGeom prst="rect">
            <a:avLst/>
          </a:prstGeom>
          <a:solidFill>
            <a:srgbClr val="1E3250"/>
          </a:solidFill>
          <a:ln/>
        </p:spPr>
      </p:sp>
      <p:sp>
        <p:nvSpPr>
          <p:cNvPr id="11" name="Shape 9"/>
          <p:cNvSpPr/>
          <p:nvPr/>
        </p:nvSpPr>
        <p:spPr>
          <a:xfrm>
            <a:off x="2514600" y="164592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8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03120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0312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propiedades verificadas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1371600"/>
            <a:ext cx="1554480" cy="2926080"/>
          </a:xfrm>
          <a:prstGeom prst="rect">
            <a:avLst/>
          </a:prstGeom>
          <a:solidFill>
            <a:srgbClr val="1E3250"/>
          </a:solidFill>
          <a:ln/>
        </p:spPr>
      </p:sp>
      <p:sp>
        <p:nvSpPr>
          <p:cNvPr id="17" name="Shape 15"/>
          <p:cNvSpPr/>
          <p:nvPr/>
        </p:nvSpPr>
        <p:spPr>
          <a:xfrm>
            <a:off x="4251960" y="164592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42519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8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40480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Comprar tokens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4048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USD 100 por transferencia o tarjeta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5780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1371600"/>
            <a:ext cx="1554480" cy="2926080"/>
          </a:xfrm>
          <a:prstGeom prst="rect">
            <a:avLst/>
          </a:prstGeom>
          <a:solidFill>
            <a:srgbClr val="1E3250"/>
          </a:solidFill>
          <a:ln/>
        </p:spPr>
      </p:sp>
      <p:sp>
        <p:nvSpPr>
          <p:cNvPr id="23" name="Shape 21"/>
          <p:cNvSpPr/>
          <p:nvPr/>
        </p:nvSpPr>
        <p:spPr>
          <a:xfrm>
            <a:off x="5989320" y="164592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8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77840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Cobrar rentas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57784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trimestral automática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9516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23760" y="1371600"/>
            <a:ext cx="1554480" cy="2926080"/>
          </a:xfrm>
          <a:prstGeom prst="rect">
            <a:avLst/>
          </a:prstGeom>
          <a:solidFill>
            <a:srgbClr val="1E3250"/>
          </a:solidFill>
          <a:ln/>
        </p:spPr>
      </p:sp>
      <p:sp>
        <p:nvSpPr>
          <p:cNvPr id="29" name="Shape 27"/>
          <p:cNvSpPr/>
          <p:nvPr/>
        </p:nvSpPr>
        <p:spPr>
          <a:xfrm>
            <a:off x="7726680" y="164592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30" name="Text 28"/>
          <p:cNvSpPr/>
          <p:nvPr/>
        </p:nvSpPr>
        <p:spPr>
          <a:xfrm>
            <a:off x="77266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8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315200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1520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interno (lock-up 6 meses)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números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657600"/>
          </a:xfrm>
          <a:prstGeom prst="rect">
            <a:avLst/>
          </a:prstGeom>
          <a:solidFill>
            <a:srgbClr val="1E325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Monoambiente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Cordón/Pocitos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120K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750/mes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neto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5.7%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94360" y="3291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Apreciación est.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+3-5%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886200"/>
            <a:ext cx="192024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9319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total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8.7-10.7%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91840" y="1097280"/>
            <a:ext cx="2651760" cy="3657600"/>
          </a:xfrm>
          <a:prstGeom prst="rect">
            <a:avLst/>
          </a:prstGeom>
          <a:solidFill>
            <a:srgbClr val="1E3250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1097280"/>
            <a:ext cx="265176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280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Comercial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Ciudad Vieja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350K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3,500/mes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2651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neto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9.4%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429000" y="3291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Apreciación est.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+2-4%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57600" y="3886200"/>
            <a:ext cx="192024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9319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total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2900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11.4-13.4%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26480" y="1097280"/>
            <a:ext cx="2651760" cy="3657600"/>
          </a:xfrm>
          <a:prstGeom prst="rect">
            <a:avLst/>
          </a:prstGeom>
          <a:solidFill>
            <a:srgbClr val="1E3250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0" y="1097280"/>
            <a:ext cx="265176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1280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Apartamento 2D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Pocitos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636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360K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1,490/mes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2651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neto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3.5%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263640" y="3291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Apreciación est.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364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+3-5%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92240" y="3886200"/>
            <a:ext cx="192024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39319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total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6.5-8.5%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negocio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solidFill>
            <a:srgbClr val="1E325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1371600" cy="777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8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19456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 de compra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94560" y="1664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Cobrado al inversor al adquirir tokens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0" y="1508760"/>
            <a:ext cx="1371600" cy="32004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8046720" cy="777240"/>
          </a:xfrm>
          <a:prstGeom prst="rect">
            <a:avLst/>
          </a:prstGeom>
          <a:solidFill>
            <a:srgbClr val="1E3250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194560"/>
            <a:ext cx="1371600" cy="777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945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8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194560" y="2240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fee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94560" y="2578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el ingreso neto por alquiler (mensual)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2423160"/>
            <a:ext cx="1371600" cy="3200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2423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8046720" cy="777240"/>
          </a:xfrm>
          <a:prstGeom prst="rect">
            <a:avLst/>
          </a:prstGeom>
          <a:solidFill>
            <a:srgbClr val="1E3250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108960"/>
            <a:ext cx="1371600" cy="777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1089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8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194560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 marketplace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194560" y="3493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vendedor en mercado secundario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3337560"/>
            <a:ext cx="1371600" cy="32004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8046720" cy="777240"/>
          </a:xfrm>
          <a:prstGeom prst="rect">
            <a:avLst/>
          </a:prstGeom>
          <a:solidFill>
            <a:srgbClr val="1E3250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023360"/>
            <a:ext cx="1371600" cy="777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0233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8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∼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19456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Renta tokens propios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194560" y="4407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proporcional sobre tokens no vendidos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0" y="4251960"/>
            <a:ext cx="1371600" cy="3200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4251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BrickToken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64592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829"/>
                          </a:solidFill>
                        </a:rPr>
                        <a:t>BrickToken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Compra directa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Plazo fijo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S&amp;P 500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Inversión mínima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100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120K+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1,000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Liquidez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8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Muy baja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Gestión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Ninguna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Ninguna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Ninguna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Yield estimado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8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Respaldo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Inmueble real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Inmueble real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Acciones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Diversificación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Múltiple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8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propiedad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Transparencia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Etapas de desarrollo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7680960" cy="0"/>
          </a:xfrm>
          <a:prstGeom prst="line">
            <a:avLst/>
          </a:prstGeom>
          <a:noFill/>
          <a:ln w="381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23444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8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1-3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651760"/>
            <a:ext cx="1828800" cy="2011680"/>
          </a:xfrm>
          <a:prstGeom prst="rect">
            <a:avLst/>
          </a:prstGeom>
          <a:solidFill>
            <a:srgbClr val="1E325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web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1821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propiedades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62102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 inversores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05993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fideicomiso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23444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8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6032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Tracción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60320" y="2240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4-8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06040" y="2651760"/>
            <a:ext cx="1828800" cy="2011680"/>
          </a:xfrm>
          <a:prstGeom prst="rect">
            <a:avLst/>
          </a:prstGeom>
          <a:solidFill>
            <a:srgbClr val="1E3250"/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propiedades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7480" y="31821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básico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97480" y="362102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50-100 inversores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405993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Pagos integrados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03520" y="123444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8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6344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Crecimiento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63440" y="2240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9-18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651760"/>
            <a:ext cx="1828800" cy="2011680"/>
          </a:xfrm>
          <a:prstGeom prst="rect">
            <a:avLst/>
          </a:prstGeom>
          <a:solidFill>
            <a:srgbClr val="1E3250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 propiedades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31821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200-500 inversores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362102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mobile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405993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liquidez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06640" y="123444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8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6656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66560" y="2240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18-36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12280" y="2651760"/>
            <a:ext cx="1828800" cy="2011680"/>
          </a:xfrm>
          <a:prstGeom prst="rect">
            <a:avLst/>
          </a:prstGeom>
          <a:solidFill>
            <a:srgbClr val="1E3250"/>
          </a:solidFill>
          <a:ln/>
        </p:spPr>
      </p:sp>
      <p:sp>
        <p:nvSpPr>
          <p:cNvPr id="37" name="Text 35"/>
          <p:cNvSpPr/>
          <p:nvPr/>
        </p:nvSpPr>
        <p:spPr>
          <a:xfrm>
            <a:off x="690372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30-50+ propiedades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03720" y="31821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 inversores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03720" y="362102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 regional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03720" y="405993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$15M+ AUM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vendemos rendimiento.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Vendemos </a:t>
            </a:r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ACCESO</a:t>
            </a:r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Invertí en inmuebles uruguayos desde USD 100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bricktoken.uy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Contacto: info@bricktoken.uy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BrickToken - Pitch Deck</dc:title>
  <dc:subject>PptxGenJS Presentation</dc:subject>
  <dc:creator>BrickToken</dc:creator>
  <cp:lastModifiedBy>BrickToken</cp:lastModifiedBy>
  <cp:revision>1</cp:revision>
  <dcterms:created xsi:type="dcterms:W3CDTF">2026-04-12T22:09:14Z</dcterms:created>
  <dcterms:modified xsi:type="dcterms:W3CDTF">2026-04-12T22:09:14Z</dcterms:modified>
</cp:coreProperties>
</file>